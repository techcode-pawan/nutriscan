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Telegraf" panose="020B0604020202020204" charset="0"/>
      <p:regular r:id="rId20"/>
    </p:embeddedFont>
    <p:embeddedFont>
      <p:font typeface="Telegraf Bold" panose="020B0604020202020204" charset="0"/>
      <p:regular r:id="rId21"/>
    </p:embeddedFont>
    <p:embeddedFont>
      <p:font typeface="Telegraf Extra-Ligh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718" y="7439501"/>
            <a:ext cx="11732895" cy="220957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620" algn="ctr">
              <a:spcBef>
                <a:spcPts val="150"/>
              </a:spcBef>
            </a:pPr>
            <a:r>
              <a:rPr sz="3600" b="1" dirty="0">
                <a:latin typeface="Calibri"/>
                <a:cs typeface="Calibri"/>
              </a:rPr>
              <a:t>Computer</a:t>
            </a:r>
            <a:r>
              <a:rPr sz="3600" b="1" spc="-127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Engineering</a:t>
            </a:r>
            <a:r>
              <a:rPr sz="3600" b="1" spc="-135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Department</a:t>
            </a:r>
            <a:endParaRPr sz="3600">
              <a:latin typeface="Calibri"/>
              <a:cs typeface="Calibri"/>
            </a:endParaRPr>
          </a:p>
          <a:p>
            <a:pPr algn="ctr">
              <a:spcBef>
                <a:spcPts val="2663"/>
              </a:spcBef>
            </a:pPr>
            <a:r>
              <a:rPr sz="3150" b="1" spc="-15" dirty="0">
                <a:latin typeface="Times New Roman"/>
                <a:cs typeface="Times New Roman"/>
              </a:rPr>
              <a:t>SHRI</a:t>
            </a:r>
            <a:r>
              <a:rPr sz="3150" b="1" spc="-180" dirty="0">
                <a:latin typeface="Times New Roman"/>
                <a:cs typeface="Times New Roman"/>
              </a:rPr>
              <a:t> </a:t>
            </a:r>
            <a:r>
              <a:rPr sz="3150" b="1" spc="-15" dirty="0">
                <a:latin typeface="Times New Roman"/>
                <a:cs typeface="Times New Roman"/>
              </a:rPr>
              <a:t>G.S.INSTITUTE</a:t>
            </a:r>
            <a:r>
              <a:rPr sz="3150" b="1" spc="-127" dirty="0">
                <a:latin typeface="Times New Roman"/>
                <a:cs typeface="Times New Roman"/>
              </a:rPr>
              <a:t> </a:t>
            </a:r>
            <a:r>
              <a:rPr sz="3150" b="1" spc="-15" dirty="0">
                <a:latin typeface="Times New Roman"/>
                <a:cs typeface="Times New Roman"/>
              </a:rPr>
              <a:t>OF</a:t>
            </a:r>
            <a:r>
              <a:rPr sz="3150" b="1" spc="-143" dirty="0">
                <a:latin typeface="Times New Roman"/>
                <a:cs typeface="Times New Roman"/>
              </a:rPr>
              <a:t> </a:t>
            </a:r>
            <a:r>
              <a:rPr sz="3150" b="1" spc="-15" dirty="0">
                <a:latin typeface="Times New Roman"/>
                <a:cs typeface="Times New Roman"/>
              </a:rPr>
              <a:t>TECHNOLOGY</a:t>
            </a:r>
            <a:r>
              <a:rPr sz="3150" b="1" spc="-158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&amp; SCIENCE,</a:t>
            </a:r>
            <a:r>
              <a:rPr sz="3150" b="1" spc="45" dirty="0">
                <a:latin typeface="Times New Roman"/>
                <a:cs typeface="Times New Roman"/>
              </a:rPr>
              <a:t> </a:t>
            </a:r>
            <a:r>
              <a:rPr sz="3150" b="1" spc="-15" dirty="0">
                <a:latin typeface="Times New Roman"/>
                <a:cs typeface="Times New Roman"/>
              </a:rPr>
              <a:t>INDORE</a:t>
            </a:r>
            <a:endParaRPr sz="3150">
              <a:latin typeface="Times New Roman"/>
              <a:cs typeface="Times New Roman"/>
            </a:endParaRPr>
          </a:p>
          <a:p>
            <a:pPr algn="ctr">
              <a:spcBef>
                <a:spcPts val="2528"/>
              </a:spcBef>
            </a:pPr>
            <a:r>
              <a:rPr sz="3150" b="1" dirty="0">
                <a:latin typeface="Times New Roman"/>
                <a:cs typeface="Times New Roman"/>
              </a:rPr>
              <a:t>2026</a:t>
            </a:r>
            <a:r>
              <a:rPr sz="3150" b="1" spc="-30" dirty="0">
                <a:latin typeface="Times New Roman"/>
                <a:cs typeface="Times New Roman"/>
              </a:rPr>
              <a:t> </a:t>
            </a:r>
            <a:r>
              <a:rPr sz="3150" b="1" dirty="0">
                <a:latin typeface="Times New Roman"/>
                <a:cs typeface="Times New Roman"/>
              </a:rPr>
              <a:t>–</a:t>
            </a:r>
            <a:r>
              <a:rPr sz="3150" b="1" spc="-8" dirty="0">
                <a:latin typeface="Times New Roman"/>
                <a:cs typeface="Times New Roman"/>
              </a:rPr>
              <a:t> </a:t>
            </a:r>
            <a:r>
              <a:rPr sz="3150" b="1" spc="-30" dirty="0">
                <a:latin typeface="Times New Roman"/>
                <a:cs typeface="Times New Roman"/>
              </a:rPr>
              <a:t>2027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0" y="4196238"/>
            <a:ext cx="5943600" cy="251222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dirty="0">
                <a:latin typeface="Calibri"/>
                <a:cs typeface="Calibri"/>
              </a:rPr>
              <a:t>Submitted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By</a:t>
            </a:r>
            <a:r>
              <a:rPr sz="2700" b="1" spc="-113" dirty="0">
                <a:latin typeface="Calibri"/>
                <a:cs typeface="Calibri"/>
              </a:rPr>
              <a:t> </a:t>
            </a:r>
            <a:r>
              <a:rPr sz="2700" b="1" spc="-75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  <a:p>
            <a:pPr marL="19050" marR="7620">
              <a:spcBef>
                <a:spcPts val="30"/>
              </a:spcBef>
            </a:pPr>
            <a:r>
              <a:rPr sz="2700" dirty="0">
                <a:latin typeface="Calibri"/>
                <a:cs typeface="Calibri"/>
              </a:rPr>
              <a:t>0801CS</a:t>
            </a:r>
            <a:r>
              <a:rPr lang="en-IN" sz="2700" dirty="0">
                <a:latin typeface="Calibri"/>
                <a:cs typeface="Calibri"/>
              </a:rPr>
              <a:t>253D03</a:t>
            </a:r>
            <a:r>
              <a:rPr sz="2700" dirty="0">
                <a:latin typeface="Calibri"/>
                <a:cs typeface="Calibri"/>
              </a:rPr>
              <a:t> –</a:t>
            </a:r>
            <a:r>
              <a:rPr lang="en-IN" sz="2700" dirty="0">
                <a:latin typeface="Calibri"/>
                <a:cs typeface="Calibri"/>
              </a:rPr>
              <a:t>Divy Arora</a:t>
            </a:r>
            <a:r>
              <a:rPr sz="2700" spc="-3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0801CS</a:t>
            </a:r>
            <a:r>
              <a:rPr lang="en-IN" sz="2700" dirty="0">
                <a:latin typeface="Calibri"/>
                <a:cs typeface="Calibri"/>
              </a:rPr>
              <a:t>253D10</a:t>
            </a:r>
            <a:r>
              <a:rPr sz="2700" spc="-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38" dirty="0">
                <a:latin typeface="Calibri"/>
                <a:cs typeface="Calibri"/>
              </a:rPr>
              <a:t> </a:t>
            </a:r>
            <a:r>
              <a:rPr lang="en-IN" sz="2700" spc="-38" dirty="0">
                <a:latin typeface="Calibri"/>
                <a:cs typeface="Calibri"/>
              </a:rPr>
              <a:t>Sudhanshu Suryawanshi</a:t>
            </a:r>
            <a:r>
              <a:rPr lang="en-IN" sz="2700" spc="-23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0801CS2</a:t>
            </a:r>
            <a:r>
              <a:rPr lang="en-IN" sz="2700" dirty="0">
                <a:latin typeface="Calibri"/>
                <a:cs typeface="Calibri"/>
              </a:rPr>
              <a:t>53D07</a:t>
            </a:r>
            <a:r>
              <a:rPr sz="2700" spc="-23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lang="en-IN" sz="2700" spc="-60" dirty="0">
                <a:latin typeface="Calibri"/>
                <a:cs typeface="Calibri"/>
              </a:rPr>
              <a:t>Pawan </a:t>
            </a:r>
            <a:r>
              <a:rPr lang="en-IN" sz="2700" spc="-60" dirty="0" err="1">
                <a:latin typeface="Calibri"/>
                <a:cs typeface="Calibri"/>
              </a:rPr>
              <a:t>Mewada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0801CS2</a:t>
            </a:r>
            <a:r>
              <a:rPr lang="en-IN" sz="2700" dirty="0">
                <a:latin typeface="Calibri"/>
                <a:cs typeface="Calibri"/>
              </a:rPr>
              <a:t>53D09</a:t>
            </a:r>
            <a:r>
              <a:rPr sz="2700" spc="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lang="en-IN" sz="2700" spc="-30" dirty="0">
                <a:latin typeface="Calibri"/>
                <a:cs typeface="Calibri"/>
              </a:rPr>
              <a:t>Samiya Akhtar</a:t>
            </a:r>
          </a:p>
          <a:p>
            <a:pPr marL="19050" marR="7620">
              <a:spcBef>
                <a:spcPts val="30"/>
              </a:spcBef>
            </a:pPr>
            <a:r>
              <a:rPr lang="en-US" sz="2700" spc="124" dirty="0">
                <a:solidFill>
                  <a:srgbClr val="343434"/>
                </a:solidFill>
                <a:latin typeface="+mj-lt"/>
                <a:ea typeface="Telegraf"/>
                <a:cs typeface="Telegraf"/>
                <a:sym typeface="Telegraf"/>
              </a:rPr>
              <a:t>0801CS241127</a:t>
            </a:r>
            <a:r>
              <a:rPr sz="2700" spc="-3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38" dirty="0">
                <a:latin typeface="Calibri"/>
                <a:cs typeface="Calibri"/>
              </a:rPr>
              <a:t> </a:t>
            </a:r>
            <a:r>
              <a:rPr lang="en-IN" sz="2700" spc="-38" dirty="0">
                <a:latin typeface="Calibri"/>
                <a:cs typeface="Calibri"/>
              </a:rPr>
              <a:t>Santosh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758" y="4269962"/>
            <a:ext cx="4425315" cy="129234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b="1" dirty="0">
                <a:latin typeface="Calibri"/>
                <a:cs typeface="Calibri"/>
              </a:rPr>
              <a:t>Guided</a:t>
            </a:r>
            <a:r>
              <a:rPr sz="2700" b="1" spc="-9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By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spc="-75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  <a:p>
            <a:pPr marL="19050" marR="1900238">
              <a:lnSpc>
                <a:spcPts val="3270"/>
              </a:lnSpc>
              <a:spcBef>
                <a:spcPts val="113"/>
              </a:spcBef>
            </a:pPr>
            <a:r>
              <a:rPr sz="2700" spc="-83" dirty="0">
                <a:latin typeface="Calibri"/>
                <a:cs typeface="Calibri"/>
              </a:rPr>
              <a:t>Dr.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Vandan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53" dirty="0">
                <a:latin typeface="Calibri"/>
                <a:cs typeface="Calibri"/>
              </a:rPr>
              <a:t>Tewari</a:t>
            </a:r>
            <a:endParaRPr lang="en-IN" sz="2700" spc="-53" dirty="0">
              <a:latin typeface="Calibri"/>
              <a:cs typeface="Calibri"/>
            </a:endParaRPr>
          </a:p>
          <a:p>
            <a:pPr marL="19050" marR="1900238">
              <a:lnSpc>
                <a:spcPts val="3270"/>
              </a:lnSpc>
              <a:spcBef>
                <a:spcPts val="113"/>
              </a:spcBef>
            </a:pPr>
            <a:r>
              <a:rPr lang="en-IN" sz="2700" spc="-53" dirty="0">
                <a:latin typeface="Calibri"/>
                <a:cs typeface="Calibri"/>
              </a:rPr>
              <a:t>Ms. Teena Dubey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5168" y="762598"/>
            <a:ext cx="13325475" cy="53585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039678" marR="7620" indent="-5021580" algn="ctr">
              <a:lnSpc>
                <a:spcPct val="129600"/>
              </a:lnSpc>
              <a:spcBef>
                <a:spcPts val="195"/>
              </a:spcBef>
            </a:pPr>
            <a:r>
              <a:rPr sz="2850" b="1" i="1" spc="-533" dirty="0">
                <a:solidFill>
                  <a:srgbClr val="403B4E"/>
                </a:solidFill>
                <a:latin typeface="Arial"/>
                <a:cs typeface="Arial"/>
              </a:rPr>
              <a:t>“</a:t>
            </a:r>
            <a:r>
              <a:rPr sz="2850" b="1" i="1" spc="-23" dirty="0">
                <a:solidFill>
                  <a:srgbClr val="403B4E"/>
                </a:solidFill>
                <a:latin typeface="Arial"/>
                <a:cs typeface="Arial"/>
              </a:rPr>
              <a:t> </a:t>
            </a:r>
            <a:r>
              <a:rPr lang="en-IN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NutriScan</a:t>
            </a:r>
            <a:r>
              <a:rPr lang="en-IN" sz="2800" dirty="0">
                <a:latin typeface="Cambria" panose="02040503050406030204" pitchFamily="18" charset="0"/>
                <a:ea typeface="Cambria" panose="02040503050406030204" pitchFamily="18" charset="0"/>
              </a:rPr>
              <a:t>: Explainable ML-Based Food-Label Analysis</a:t>
            </a:r>
            <a:r>
              <a:rPr sz="2700" b="1" spc="278" dirty="0">
                <a:solidFill>
                  <a:srgbClr val="403B4E"/>
                </a:solidFill>
                <a:latin typeface="Cambria"/>
                <a:cs typeface="Cambria"/>
              </a:rPr>
              <a:t>”</a:t>
            </a:r>
            <a:endParaRPr sz="2700" dirty="0">
              <a:latin typeface="Cambria"/>
              <a:cs typeface="Cambri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510E2-7B73-CD4F-D2FA-13123A5B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9" y="2636532"/>
            <a:ext cx="4425315" cy="3619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245048" y="5345381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400" y="7009520"/>
            <a:ext cx="14242258" cy="411687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4209656"/>
            <a:ext cx="10797967" cy="182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1"/>
              </a:lnSpc>
              <a:spcBef>
                <a:spcPct val="0"/>
              </a:spcBef>
            </a:pPr>
            <a:r>
              <a:rPr lang="en-US" sz="10000" b="1" spc="500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NUTRISCAN.AI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876681"/>
            <a:ext cx="10677822" cy="99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  <a:spcBef>
                <a:spcPct val="0"/>
              </a:spcBef>
            </a:pPr>
            <a:r>
              <a:rPr lang="en-US" sz="2749" spc="29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PERSONALIZED PRODUCT HEALTH SCORING USING 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507" y="6965805"/>
            <a:ext cx="2554023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" y="7510852"/>
            <a:ext cx="7162800" cy="2261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Divy Arora (0801CS253D03)</a:t>
            </a:r>
          </a:p>
          <a:p>
            <a:pPr algn="l">
              <a:lnSpc>
                <a:spcPts val="3499"/>
              </a:lnSpc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Sudhanshu Suryawanshi (0801CS253D10)</a:t>
            </a:r>
          </a:p>
          <a:p>
            <a:pPr algn="l">
              <a:lnSpc>
                <a:spcPts val="3499"/>
              </a:lnSpc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Pawan </a:t>
            </a:r>
            <a:r>
              <a:rPr lang="en-US" sz="2499" spc="124" dirty="0" err="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Mewada</a:t>
            </a: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(0801CS253D07)</a:t>
            </a:r>
          </a:p>
          <a:p>
            <a:pPr algn="l">
              <a:lnSpc>
                <a:spcPts val="3499"/>
              </a:lnSpc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Samiya Akhtar (0801CS253D09)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Santosh (0801CS241127)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4575" y="783695"/>
            <a:ext cx="2273528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Barcode Scanning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98014" y="783695"/>
            <a:ext cx="219159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Analytics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81458" y="783695"/>
            <a:ext cx="2413200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Personalized Health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2397197" y="-3795302"/>
            <a:ext cx="1043095" cy="9976510"/>
            <a:chOff x="0" y="0"/>
            <a:chExt cx="169362" cy="3336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9362" cy="339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B941249-544C-7040-A008-EC0C6DC50BC9}"/>
              </a:ext>
            </a:extLst>
          </p:cNvPr>
          <p:cNvSpPr txBox="1"/>
          <p:nvPr/>
        </p:nvSpPr>
        <p:spPr>
          <a:xfrm>
            <a:off x="9753600" y="7004547"/>
            <a:ext cx="85344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bg1"/>
                </a:solidFill>
                <a:latin typeface="Telegraf" panose="020B0604020202020204" charset="0"/>
              </a:rPr>
              <a:t>Guide/Supervisor:</a:t>
            </a:r>
          </a:p>
          <a:p>
            <a:r>
              <a:rPr lang="en-IN" sz="2500" dirty="0">
                <a:latin typeface="Telegraf" panose="020B0604020202020204" charset="0"/>
              </a:rPr>
              <a:t>Dr. Vandan Tewari </a:t>
            </a:r>
          </a:p>
          <a:p>
            <a:r>
              <a:rPr lang="en-IN" sz="2500" dirty="0">
                <a:latin typeface="Telegraf" panose="020B0604020202020204" charset="0"/>
              </a:rPr>
              <a:t>Ms. Teena Dubey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7501837" cy="11072020"/>
            <a:chOff x="0" y="0"/>
            <a:chExt cx="1975792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793" cy="2916088"/>
            </a:xfrm>
            <a:custGeom>
              <a:avLst/>
              <a:gdLst/>
              <a:ahLst/>
              <a:cxnLst/>
              <a:rect l="l" t="t" r="r" b="b"/>
              <a:pathLst>
                <a:path w="1975793" h="2916088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59298" y="721925"/>
            <a:ext cx="8276364" cy="332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6"/>
              </a:lnSpc>
            </a:pPr>
            <a:r>
              <a:rPr lang="en-US" sz="8604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BACKGROUND &amp; MOTIVATION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88633" y="-146732"/>
            <a:ext cx="6026397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59298" y="7835148"/>
            <a:ext cx="7955699" cy="168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3"/>
              </a:lnSpc>
              <a:spcBef>
                <a:spcPct val="0"/>
              </a:spcBef>
            </a:pPr>
            <a:r>
              <a:rPr lang="en-US" sz="3138" spc="7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PRODUCT → BARCODE → NUTRITION/INGREDIENTS → AI ANALYSIS → SIMPLE HEALTH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59298" y="4546028"/>
            <a:ext cx="8115300" cy="275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AutoNum type="arabicPeriod"/>
            </a:pPr>
            <a:r>
              <a:rPr lang="en-US" sz="24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0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Consumers often find it difficult to understand nutrition labels and ingredient lists.</a:t>
            </a:r>
          </a:p>
          <a:p>
            <a:pPr marL="410211" lvl="1" indent="-205106" algn="l">
              <a:lnSpc>
                <a:spcPts val="2660"/>
              </a:lnSpc>
              <a:buAutoNum type="arabicPeriod"/>
            </a:pPr>
            <a:r>
              <a:rPr lang="en-US" sz="20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Products with similar appearances can have significantly different nutritional values.</a:t>
            </a:r>
          </a:p>
          <a:p>
            <a:pPr marL="410211" lvl="1" indent="-205106" algn="l">
              <a:lnSpc>
                <a:spcPts val="2660"/>
              </a:lnSpc>
              <a:buAutoNum type="arabicPeriod"/>
            </a:pPr>
            <a:r>
              <a:rPr lang="en-US" sz="20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Existing health scores are generally generic and may not consider individual user requirements.</a:t>
            </a:r>
          </a:p>
          <a:p>
            <a:pPr marL="410211" lvl="1" indent="-205106" algn="l">
              <a:lnSpc>
                <a:spcPts val="2660"/>
              </a:lnSpc>
              <a:spcBef>
                <a:spcPct val="0"/>
              </a:spcBef>
              <a:buAutoNum type="arabicPeriod"/>
            </a:pPr>
            <a:r>
              <a:rPr lang="en-US" sz="20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Users need a simple way to determine: "Is this product suitable for me?"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5051534" y="7300883"/>
            <a:ext cx="249294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Analysis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5388008" y="2353136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Bardcode 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5388008" y="4967606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Heath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09823" y="439935"/>
            <a:ext cx="643045" cy="9407130"/>
            <a:chOff x="0" y="0"/>
            <a:chExt cx="169362" cy="24775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51945" y="3691521"/>
            <a:ext cx="6895551" cy="1521052"/>
            <a:chOff x="0" y="0"/>
            <a:chExt cx="1816112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51945" y="5489893"/>
            <a:ext cx="6895551" cy="1521052"/>
            <a:chOff x="0" y="0"/>
            <a:chExt cx="1816112" cy="400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69338" y="2054196"/>
            <a:ext cx="6849940" cy="251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7"/>
              </a:lnSpc>
            </a:pPr>
            <a:r>
              <a:rPr lang="en-US" sz="6502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PROPOSED IDEA &amp; SIGNIFICANCE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29423" y="-580405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69338" y="4530064"/>
            <a:ext cx="6849940" cy="142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6"/>
              </a:lnSpc>
              <a:spcBef>
                <a:spcPct val="0"/>
              </a:spcBef>
            </a:pPr>
            <a:r>
              <a:rPr lang="en-US" sz="3954" spc="9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 MOBILE APPLICATION THAT ALLOWS A USER 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945" y="3856417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1945" y="5654789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69338" y="6183744"/>
            <a:ext cx="5917923" cy="344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Scan a product barcode or ingredient list.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Retrieve product information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Provide basic user preferences/profile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Analyze nutritional and ingredient information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Use an ML model to generate a Health Score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Ask questions about the product using an AI assistant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Receive understandable recommendations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endParaRPr lang="en-US" sz="1900" spc="95" dirty="0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706939" y="4135401"/>
            <a:ext cx="8757134" cy="53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0"/>
              </a:lnSpc>
              <a:spcBef>
                <a:spcPct val="0"/>
              </a:spcBef>
            </a:pPr>
            <a:r>
              <a:rPr lang="en-US" sz="2985" spc="14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Product: Chocolate Cereal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06939" y="5926840"/>
            <a:ext cx="9031387" cy="55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1"/>
              </a:lnSpc>
              <a:spcBef>
                <a:spcPct val="0"/>
              </a:spcBef>
            </a:pPr>
            <a:r>
              <a:rPr lang="en-US" sz="3079" spc="153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Score: 62/100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3151" y="783695"/>
            <a:ext cx="1599324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Score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77374" y="783695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Personalized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2904" y="783695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Barcode</a:t>
            </a:r>
          </a:p>
        </p:txBody>
      </p:sp>
      <p:grpSp>
        <p:nvGrpSpPr>
          <p:cNvPr id="24" name="Group 24"/>
          <p:cNvGrpSpPr/>
          <p:nvPr/>
        </p:nvGrpSpPr>
        <p:grpSpPr>
          <a:xfrm rot="5400000">
            <a:off x="6061779" y="-3531778"/>
            <a:ext cx="1019811" cy="9407130"/>
            <a:chOff x="0" y="0"/>
            <a:chExt cx="169362" cy="24775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351945" y="7288265"/>
            <a:ext cx="6895551" cy="1521052"/>
            <a:chOff x="0" y="0"/>
            <a:chExt cx="1816112" cy="4006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351945" y="7453161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06939" y="7422681"/>
            <a:ext cx="4985712" cy="119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8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Analysis: High sugar, moderate calories, good fiber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 spc="8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Recommendation: Suitable occasionally; not ideal as a daily breakfast.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BFE9-F6AB-138E-7CDC-C59160F1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AD1DD8-E547-2D3C-303E-1FCC3876F237}"/>
              </a:ext>
            </a:extLst>
          </p:cNvPr>
          <p:cNvSpPr/>
          <p:nvPr/>
        </p:nvSpPr>
        <p:spPr>
          <a:xfrm flipH="1">
            <a:off x="-1551102" y="-2436907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6D30123-5542-8240-1B8F-BC96AA88580C}"/>
              </a:ext>
            </a:extLst>
          </p:cNvPr>
          <p:cNvGrpSpPr/>
          <p:nvPr/>
        </p:nvGrpSpPr>
        <p:grpSpPr>
          <a:xfrm>
            <a:off x="11786060" y="-392510"/>
            <a:ext cx="6667753" cy="11072020"/>
            <a:chOff x="0" y="0"/>
            <a:chExt cx="1756116" cy="291608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1A9F2FA-6250-956B-465E-8B971F7AA7F2}"/>
                </a:ext>
              </a:extLst>
            </p:cNvPr>
            <p:cNvSpPr/>
            <p:nvPr/>
          </p:nvSpPr>
          <p:spPr>
            <a:xfrm>
              <a:off x="0" y="0"/>
              <a:ext cx="1756116" cy="2916088"/>
            </a:xfrm>
            <a:custGeom>
              <a:avLst/>
              <a:gdLst/>
              <a:ahLst/>
              <a:cxnLst/>
              <a:rect l="l" t="t" r="r" b="b"/>
              <a:pathLst>
                <a:path w="1756116" h="2916088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A278206-FD34-C127-E546-1BD2B6B878F7}"/>
                </a:ext>
              </a:extLst>
            </p:cNvPr>
            <p:cNvSpPr txBox="1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3EF1ED2-D041-165D-071A-A563F0A9D26E}"/>
              </a:ext>
            </a:extLst>
          </p:cNvPr>
          <p:cNvGrpSpPr/>
          <p:nvPr/>
        </p:nvGrpSpPr>
        <p:grpSpPr>
          <a:xfrm>
            <a:off x="17233708" y="483631"/>
            <a:ext cx="643045" cy="9407130"/>
            <a:chOff x="0" y="0"/>
            <a:chExt cx="857393" cy="12542840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BED2D4-F6F6-00D9-32B8-6F0679C575FA}"/>
                </a:ext>
              </a:extLst>
            </p:cNvPr>
            <p:cNvSpPr txBox="1"/>
            <p:nvPr/>
          </p:nvSpPr>
          <p:spPr>
            <a:xfrm rot="-5400000">
              <a:off x="-1270586" y="9100782"/>
              <a:ext cx="3323932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Health Score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E04980B-D2BC-ED92-496F-0C5535213AB9}"/>
                </a:ext>
              </a:extLst>
            </p:cNvPr>
            <p:cNvSpPr txBox="1"/>
            <p:nvPr/>
          </p:nvSpPr>
          <p:spPr>
            <a:xfrm rot="-5400000">
              <a:off x="-821952" y="2503786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Workflow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93CA00C-DBE7-0378-92CB-82D075DE001E}"/>
                </a:ext>
              </a:extLst>
            </p:cNvPr>
            <p:cNvSpPr txBox="1"/>
            <p:nvPr/>
          </p:nvSpPr>
          <p:spPr>
            <a:xfrm rot="-5400000">
              <a:off x="-821952" y="5516708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NutriScan</a:t>
              </a:r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50C66CA6-3850-788B-BA8D-B0134BD5FFCE}"/>
                </a:ext>
              </a:extLst>
            </p:cNvPr>
            <p:cNvGrpSpPr/>
            <p:nvPr/>
          </p:nvGrpSpPr>
          <p:grpSpPr>
            <a:xfrm>
              <a:off x="0" y="0"/>
              <a:ext cx="857393" cy="12542840"/>
              <a:chOff x="0" y="0"/>
              <a:chExt cx="169362" cy="2477598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BB19110-BFA5-8827-4A79-ABB8BE330461}"/>
                  </a:ext>
                </a:extLst>
              </p:cNvPr>
              <p:cNvSpPr/>
              <p:nvPr/>
            </p:nvSpPr>
            <p:spPr>
              <a:xfrm>
                <a:off x="0" y="0"/>
                <a:ext cx="169362" cy="247759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247759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2392917"/>
                    </a:lnTo>
                    <a:cubicBezTo>
                      <a:pt x="169362" y="2439685"/>
                      <a:pt x="131449" y="2477598"/>
                      <a:pt x="84681" y="2477598"/>
                    </a:cubicBezTo>
                    <a:lnTo>
                      <a:pt x="84681" y="2477598"/>
                    </a:lnTo>
                    <a:cubicBezTo>
                      <a:pt x="37913" y="2477598"/>
                      <a:pt x="0" y="2439685"/>
                      <a:pt x="0" y="239291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F2F7FA"/>
                </a:solidFill>
                <a:prstDash val="solid"/>
                <a:round/>
              </a:ln>
            </p:spPr>
          </p:sp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DF6199A3-781F-0280-9C21-1A5AD2964A5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69362" cy="2534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CB4A623-423D-8005-00B5-DF5C87FE8796}"/>
              </a:ext>
            </a:extLst>
          </p:cNvPr>
          <p:cNvSpPr txBox="1"/>
          <p:nvPr/>
        </p:nvSpPr>
        <p:spPr>
          <a:xfrm>
            <a:off x="10951976" y="7212829"/>
            <a:ext cx="6026397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24F2035-565B-64CF-46C1-FBE5534D28B9}"/>
              </a:ext>
            </a:extLst>
          </p:cNvPr>
          <p:cNvSpPr txBox="1"/>
          <p:nvPr/>
        </p:nvSpPr>
        <p:spPr>
          <a:xfrm>
            <a:off x="1028700" y="1249892"/>
            <a:ext cx="9198853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6212" b="1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Needs and Impact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AE2C54B-0969-F934-7FD5-AA8AD500B2E1}"/>
              </a:ext>
            </a:extLst>
          </p:cNvPr>
          <p:cNvSpPr txBox="1"/>
          <p:nvPr/>
        </p:nvSpPr>
        <p:spPr>
          <a:xfrm>
            <a:off x="1081334" y="2295539"/>
            <a:ext cx="9093583" cy="84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b="1" dirty="0">
                <a:latin typeface="Telegraf" panose="020B0604020202020204" charset="0"/>
              </a:rPr>
              <a:t>Needs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Nutrition labels are difficult for many users to interpret.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Comparing nutritional values across products is time-consuming.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Important nutritional factors such as sugar, sodium and saturated fat can be overlooked.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OCR-extracted label information needs cleaning and standardisation before analysis.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Users need a simple way to understand the nutritional quality of a packaged product.</a:t>
            </a:r>
          </a:p>
          <a:p>
            <a:pPr lvl="0"/>
            <a:endParaRPr lang="en-IN" sz="2400" dirty="0">
              <a:latin typeface="Telegraf" panose="020B0604020202020204" charset="0"/>
            </a:endParaRPr>
          </a:p>
          <a:p>
            <a:pPr algn="just">
              <a:lnSpc>
                <a:spcPts val="2606"/>
              </a:lnSpc>
              <a:spcBef>
                <a:spcPct val="0"/>
              </a:spcBef>
            </a:pPr>
            <a:r>
              <a:rPr lang="en-US" sz="2400" b="1" spc="93" dirty="0">
                <a:solidFill>
                  <a:srgbClr val="343434"/>
                </a:solidFill>
                <a:latin typeface="Telegraf" panose="020B0604020202020204" charset="0"/>
                <a:ea typeface="Telegraf"/>
                <a:cs typeface="Telegraf"/>
                <a:sym typeface="Telegraf"/>
              </a:rPr>
              <a:t>Impact: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Makes nutrition information easier for normal users to understand.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Reduces the effort required to manually compare packaged products.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Provides a consistent ML-based nutritional-health assessment.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Highlights the major nutritional factors influencing the result.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elegraf" panose="020B0604020202020204" charset="0"/>
              </a:rPr>
              <a:t>Improves transparency by explaining the model's output in simple language.</a:t>
            </a:r>
          </a:p>
          <a:p>
            <a:pPr algn="just">
              <a:lnSpc>
                <a:spcPts val="2606"/>
              </a:lnSpc>
              <a:spcBef>
                <a:spcPct val="0"/>
              </a:spcBef>
            </a:pPr>
            <a:endParaRPr lang="en-US" sz="1861" b="1" spc="93" dirty="0">
              <a:solidFill>
                <a:srgbClr val="343434"/>
              </a:solidFill>
              <a:latin typeface="Telegraf" panose="020B0604020202020204" charset="0"/>
              <a:ea typeface="Telegraf"/>
              <a:cs typeface="Telegraf"/>
              <a:sym typeface="Telegraf"/>
            </a:endParaRPr>
          </a:p>
          <a:p>
            <a:pPr algn="just">
              <a:lnSpc>
                <a:spcPts val="2606"/>
              </a:lnSpc>
              <a:spcBef>
                <a:spcPct val="0"/>
              </a:spcBef>
            </a:pPr>
            <a:endParaRPr lang="en-US" sz="1861" spc="93" dirty="0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400162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782737"/>
            <a:ext cx="1646446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782737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Personalized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76404" y="782737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NutriScan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164881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41524" y="6795739"/>
            <a:ext cx="7273548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427917"/>
            <a:ext cx="13041350" cy="1241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77"/>
              </a:lnSpc>
            </a:pPr>
            <a:r>
              <a:rPr lang="en-US" sz="8842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688080"/>
            <a:ext cx="12688027" cy="128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57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CONSUMERS LACK A SIMPLE AND PERSONALIZED MECHANISM TO EVALUATE THE HEALTH SUITABILITY OF PACKAGED PRODUCTS FROM THEIR NUTRITIONAL AND INGREDIENT INFORMATION.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" y="5183614"/>
            <a:ext cx="10268241" cy="235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Existing Problems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Nutrition labels are difficult for many users to interpret.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Generic health ratings don't consider individual preferences.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Important ingredients may be overlooked.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Comparing multiple products manually is time-consuming.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Users often don't know why a product is considered healthy or unhealthy.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endParaRPr lang="en-US" sz="1900" spc="95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8160268"/>
            <a:ext cx="9485359" cy="834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1"/>
              </a:lnSpc>
              <a:spcBef>
                <a:spcPct val="0"/>
              </a:spcBef>
            </a:pPr>
            <a:r>
              <a:rPr lang="en-US" sz="4629" spc="23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Barcode + ML + Personalization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693575"/>
            <a:ext cx="6696246" cy="60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68" b="1" spc="163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OUR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468336" y="1192731"/>
            <a:ext cx="333375" cy="333375"/>
            <a:chOff x="0" y="0"/>
            <a:chExt cx="87802" cy="878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98508" y="1192731"/>
            <a:ext cx="333375" cy="333375"/>
            <a:chOff x="0" y="0"/>
            <a:chExt cx="87802" cy="878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68336" y="3612297"/>
            <a:ext cx="333375" cy="333375"/>
            <a:chOff x="0" y="0"/>
            <a:chExt cx="87802" cy="878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98508" y="3612297"/>
            <a:ext cx="333375" cy="333375"/>
            <a:chOff x="0" y="0"/>
            <a:chExt cx="87802" cy="878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9303" y="3524696"/>
            <a:ext cx="643045" cy="7154814"/>
            <a:chOff x="0" y="0"/>
            <a:chExt cx="169362" cy="18843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9362" cy="1884395"/>
            </a:xfrm>
            <a:custGeom>
              <a:avLst/>
              <a:gdLst/>
              <a:ahLst/>
              <a:cxnLst/>
              <a:rect l="l" t="t" r="r" b="b"/>
              <a:pathLst>
                <a:path w="169362" h="1884395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69362" cy="1941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Studio Shodwe</a:t>
            </a:r>
          </a:p>
        </p:txBody>
      </p:sp>
      <p:sp>
        <p:nvSpPr>
          <p:cNvPr id="23" name="TextBox 23"/>
          <p:cNvSpPr txBox="1"/>
          <p:nvPr/>
        </p:nvSpPr>
        <p:spPr>
          <a:xfrm rot="-5400000">
            <a:off x="637488" y="4872252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-1110727" y="-531114"/>
            <a:ext cx="7273548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05732" y="7304973"/>
            <a:ext cx="9737167" cy="131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OBJECTIVE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26047" y="1687371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56219" y="1687371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26047" y="4106937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56219" y="4106937"/>
            <a:ext cx="101795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05732" y="8488680"/>
            <a:ext cx="9737167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WHY WE NEED NUTRISCAN 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74172" y="3555147"/>
            <a:ext cx="302316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Provide AI-powered explanations, Q&amp;A, and healthier recommendations.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0" y="3555147"/>
            <a:ext cx="302316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Develop an ML-based personalized health scoring system.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0" y="1135581"/>
            <a:ext cx="302316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Develop barcode scanning and product information retrieval.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74172" y="1135581"/>
            <a:ext cx="302316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Preprocess nutritional and ingredient data for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65348" flipH="1">
            <a:off x="-1362223" y="-2212276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250927">
            <a:off x="5486162" y="7645079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128201" y="4160161"/>
            <a:ext cx="7891417" cy="6257897"/>
            <a:chOff x="0" y="0"/>
            <a:chExt cx="2078398" cy="1648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8398" cy="1648170"/>
            </a:xfrm>
            <a:custGeom>
              <a:avLst/>
              <a:gdLst/>
              <a:ahLst/>
              <a:cxnLst/>
              <a:rect l="l" t="t" r="r" b="b"/>
              <a:pathLst>
                <a:path w="2078398" h="1648170">
                  <a:moveTo>
                    <a:pt x="0" y="0"/>
                  </a:moveTo>
                  <a:lnTo>
                    <a:pt x="2078398" y="0"/>
                  </a:lnTo>
                  <a:lnTo>
                    <a:pt x="2078398" y="1648170"/>
                  </a:lnTo>
                  <a:lnTo>
                    <a:pt x="0" y="1648170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078398" cy="17053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6844970" y="1122741"/>
            <a:ext cx="643045" cy="7706253"/>
            <a:chOff x="0" y="0"/>
            <a:chExt cx="169362" cy="20296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362" cy="2029631"/>
            </a:xfrm>
            <a:custGeom>
              <a:avLst/>
              <a:gdLst/>
              <a:ahLst/>
              <a:cxnLst/>
              <a:rect l="l" t="t" r="r" b="b"/>
              <a:pathLst>
                <a:path w="169362" h="2029631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45803" y="4160161"/>
          <a:ext cx="11335769" cy="5981700"/>
        </p:xfrm>
        <a:graphic>
          <a:graphicData uri="http://schemas.openxmlformats.org/drawingml/2006/table">
            <a:tbl>
              <a:tblPr/>
              <a:tblGrid>
                <a:gridCol w="2317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1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9913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Existing 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What It Offers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Limitation / Our Opportunity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54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Yuka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Barcode scanning, product health score, ingredient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Mainly provides a generalized score; limited user-specific personalization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4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Open Food Facts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Barcode-based product database, nutrition &amp; ingredients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Primarily an information/database platform, not an ML-based personalized assessment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093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Fooducate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6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Product scanning, nutrition grades, dietary information</a:t>
                      </a:r>
                    </a:p>
                    <a:p>
                      <a:pPr algn="ctr">
                        <a:lnSpc>
                          <a:spcPts val="2660"/>
                        </a:lnSpc>
                      </a:pPr>
                      <a:endParaRPr lang="en-US" sz="1900">
                        <a:solidFill>
                          <a:srgbClr val="000000"/>
                        </a:solidFill>
                        <a:latin typeface="Telegraf"/>
                        <a:ea typeface="Telegraf"/>
                        <a:cs typeface="Telegraf"/>
                        <a:sym typeface="Telegraf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Focuses mainly on predefined grading and nutritional guidance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4653531" y="4766635"/>
            <a:ext cx="2798032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NUTRI SCAN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451563" y="4766635"/>
            <a:ext cx="204272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SCORE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7794" y="6794878"/>
            <a:ext cx="7273548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49329"/>
            <a:ext cx="9445915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803" y="3098063"/>
            <a:ext cx="8379102" cy="88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  <a:spcBef>
                <a:spcPct val="0"/>
              </a:spcBef>
            </a:pPr>
            <a:r>
              <a:rPr lang="en-US" sz="2429" spc="5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WHAT ALREADY EXISTS AND WHAT ARE WE ADDING?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4248" y="9337770"/>
            <a:ext cx="1601316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Score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48471" y="9337770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Personalized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0645" y="9337770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NutriScan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9070592" y="4576273"/>
            <a:ext cx="986800" cy="10285215"/>
            <a:chOff x="0" y="-57150"/>
            <a:chExt cx="207881" cy="25347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7881" cy="2534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 rot="225008">
            <a:off x="10323059" y="7240180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64408" y="-882202"/>
            <a:ext cx="7273548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164B82"/>
                </a:solidFill>
                <a:latin typeface="Telegraf Bold"/>
                <a:ea typeface="Telegraf Bold"/>
                <a:cs typeface="Telegraf Bold"/>
                <a:sym typeface="Telegraf Bold"/>
              </a:rPr>
              <a:t>07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028700"/>
            <a:ext cx="5473709" cy="2431846"/>
            <a:chOff x="0" y="0"/>
            <a:chExt cx="1441635" cy="6404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3655775"/>
            <a:ext cx="5473709" cy="2431846"/>
            <a:chOff x="0" y="0"/>
            <a:chExt cx="1441635" cy="6404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6286752"/>
            <a:ext cx="5473709" cy="2431846"/>
            <a:chOff x="0" y="0"/>
            <a:chExt cx="1441635" cy="6404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85591" y="1028700"/>
            <a:ext cx="5473709" cy="2431846"/>
            <a:chOff x="0" y="0"/>
            <a:chExt cx="1441635" cy="6404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785591" y="3655775"/>
            <a:ext cx="5473709" cy="2431846"/>
            <a:chOff x="0" y="0"/>
            <a:chExt cx="1441635" cy="6404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85591" y="6286752"/>
            <a:ext cx="5473709" cy="2431846"/>
            <a:chOff x="0" y="0"/>
            <a:chExt cx="1441635" cy="6404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8700" y="1789324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85591" y="1789324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4416399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85591" y="4416399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591555" y="3945293"/>
            <a:ext cx="5009307" cy="1852811"/>
            <a:chOff x="0" y="0"/>
            <a:chExt cx="6679077" cy="2470414"/>
          </a:xfrm>
        </p:grpSpPr>
        <p:sp>
          <p:nvSpPr>
            <p:cNvPr id="34" name="TextBox 34"/>
            <p:cNvSpPr txBox="1"/>
            <p:nvPr/>
          </p:nvSpPr>
          <p:spPr>
            <a:xfrm>
              <a:off x="0" y="47625"/>
              <a:ext cx="6679077" cy="191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21"/>
                </a:lnSpc>
              </a:pPr>
              <a:r>
                <a:rPr lang="en-US" sz="5383" b="1">
                  <a:solidFill>
                    <a:srgbClr val="34343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 VISUAL ODYSSEY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905208"/>
              <a:ext cx="6679077" cy="5652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89"/>
                </a:lnSpc>
                <a:spcBef>
                  <a:spcPct val="0"/>
                </a:spcBef>
              </a:pPr>
              <a:r>
                <a:rPr lang="en-US" sz="2420" spc="58">
                  <a:solidFill>
                    <a:srgbClr val="343434"/>
                  </a:solidFill>
                  <a:latin typeface="Telegraf"/>
                  <a:ea typeface="Telegraf"/>
                  <a:cs typeface="Telegraf"/>
                  <a:sym typeface="Telegraf"/>
                </a:rPr>
                <a:t>MAPPING OUR THOUGHTS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526047" y="1526756"/>
            <a:ext cx="3587842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Barcode-Based Product Identification — Scan a product barcode to quickly identify and retrieve relevant product information.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282938" y="1664868"/>
            <a:ext cx="3587842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Personalized Health Assessment — Consider user-specific preferences and requirements while evaluating the product.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26047" y="4153831"/>
            <a:ext cx="3587842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Nutritional &amp; Ingredient Analysis — Analyze nutritional values and ingredients to determine factors affecting the product's health score.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282938" y="4153831"/>
            <a:ext cx="3587842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Age-Based Recommendations — Provide product suitability and recommendations based on the user's age group and nutritional requirements.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7043474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85591" y="7043474"/>
            <a:ext cx="1497347" cy="98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6982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F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526047" y="6919019"/>
            <a:ext cx="3587842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ML-Based Health Scoring — Use a machine learning model to generate a health score based on product characteristics.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82938" y="6919019"/>
            <a:ext cx="3587842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8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Healthier Recommendations — Suggest suitable healthier alternatives based on product analysis and user preferences.</a:t>
            </a:r>
          </a:p>
        </p:txBody>
      </p:sp>
      <p:sp>
        <p:nvSpPr>
          <p:cNvPr id="44" name="Freeform 44"/>
          <p:cNvSpPr/>
          <p:nvPr/>
        </p:nvSpPr>
        <p:spPr>
          <a:xfrm>
            <a:off x="6502409" y="2244623"/>
            <a:ext cx="5283181" cy="1455558"/>
          </a:xfrm>
          <a:custGeom>
            <a:avLst/>
            <a:gdLst/>
            <a:ahLst/>
            <a:cxnLst/>
            <a:rect l="l" t="t" r="r" b="b"/>
            <a:pathLst>
              <a:path w="5283181" h="1455558">
                <a:moveTo>
                  <a:pt x="0" y="0"/>
                </a:moveTo>
                <a:lnTo>
                  <a:pt x="719602" y="0"/>
                </a:lnTo>
                <a:cubicBezTo>
                  <a:pt x="780231" y="0"/>
                  <a:pt x="838376" y="24085"/>
                  <a:pt x="881247" y="66956"/>
                </a:cubicBezTo>
                <a:cubicBezTo>
                  <a:pt x="924118" y="109827"/>
                  <a:pt x="948202" y="167972"/>
                  <a:pt x="948202" y="228600"/>
                </a:cubicBezTo>
                <a:lnTo>
                  <a:pt x="948202" y="1226958"/>
                </a:lnTo>
                <a:cubicBezTo>
                  <a:pt x="948202" y="1287587"/>
                  <a:pt x="972287" y="1345732"/>
                  <a:pt x="1015158" y="1388603"/>
                </a:cubicBezTo>
                <a:cubicBezTo>
                  <a:pt x="1058028" y="1431474"/>
                  <a:pt x="1116173" y="1455558"/>
                  <a:pt x="1176802" y="1455558"/>
                </a:cubicBezTo>
                <a:lnTo>
                  <a:pt x="3910125" y="1455558"/>
                </a:lnTo>
                <a:cubicBezTo>
                  <a:pt x="4036377" y="1455558"/>
                  <a:pt x="4138725" y="1353210"/>
                  <a:pt x="4138725" y="1226958"/>
                </a:cubicBezTo>
                <a:lnTo>
                  <a:pt x="4138725" y="228600"/>
                </a:lnTo>
                <a:cubicBezTo>
                  <a:pt x="4138725" y="102348"/>
                  <a:pt x="4241073" y="0"/>
                  <a:pt x="4367325" y="0"/>
                </a:cubicBezTo>
                <a:lnTo>
                  <a:pt x="5283182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45" name="Freeform 45"/>
          <p:cNvSpPr/>
          <p:nvPr/>
        </p:nvSpPr>
        <p:spPr>
          <a:xfrm>
            <a:off x="6502409" y="6114288"/>
            <a:ext cx="5098453" cy="1388387"/>
          </a:xfrm>
          <a:custGeom>
            <a:avLst/>
            <a:gdLst/>
            <a:ahLst/>
            <a:cxnLst/>
            <a:rect l="l" t="t" r="r" b="b"/>
            <a:pathLst>
              <a:path w="5098453" h="1388387">
                <a:moveTo>
                  <a:pt x="0" y="1381809"/>
                </a:moveTo>
                <a:lnTo>
                  <a:pt x="719602" y="1381809"/>
                </a:lnTo>
                <a:cubicBezTo>
                  <a:pt x="845854" y="1381809"/>
                  <a:pt x="948202" y="1279461"/>
                  <a:pt x="948202" y="1153209"/>
                </a:cubicBezTo>
                <a:lnTo>
                  <a:pt x="948202" y="228600"/>
                </a:lnTo>
                <a:cubicBezTo>
                  <a:pt x="948202" y="167972"/>
                  <a:pt x="972287" y="109826"/>
                  <a:pt x="1015158" y="66955"/>
                </a:cubicBezTo>
                <a:cubicBezTo>
                  <a:pt x="1058028" y="24085"/>
                  <a:pt x="1116173" y="0"/>
                  <a:pt x="1176802" y="0"/>
                </a:cubicBezTo>
                <a:lnTo>
                  <a:pt x="3910125" y="0"/>
                </a:lnTo>
                <a:cubicBezTo>
                  <a:pt x="4036377" y="0"/>
                  <a:pt x="4138725" y="102348"/>
                  <a:pt x="4138725" y="228600"/>
                </a:cubicBezTo>
                <a:lnTo>
                  <a:pt x="4138725" y="1159787"/>
                </a:lnTo>
                <a:cubicBezTo>
                  <a:pt x="4138725" y="1220416"/>
                  <a:pt x="4162810" y="1278562"/>
                  <a:pt x="4205681" y="1321432"/>
                </a:cubicBezTo>
                <a:cubicBezTo>
                  <a:pt x="4248551" y="1364303"/>
                  <a:pt x="4306696" y="1388387"/>
                  <a:pt x="4367325" y="1388387"/>
                </a:cubicBezTo>
                <a:lnTo>
                  <a:pt x="5098453" y="1388387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46" name="AutoShape 46"/>
          <p:cNvSpPr/>
          <p:nvPr/>
        </p:nvSpPr>
        <p:spPr>
          <a:xfrm>
            <a:off x="6502409" y="4871699"/>
            <a:ext cx="44671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47" name="AutoShape 47"/>
          <p:cNvSpPr/>
          <p:nvPr/>
        </p:nvSpPr>
        <p:spPr>
          <a:xfrm flipV="1">
            <a:off x="11338881" y="4871699"/>
            <a:ext cx="55673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1F803E-D96C-02F5-C360-CF12CEB837AD}"/>
              </a:ext>
            </a:extLst>
          </p:cNvPr>
          <p:cNvSpPr txBox="1"/>
          <p:nvPr/>
        </p:nvSpPr>
        <p:spPr>
          <a:xfrm>
            <a:off x="7654413" y="96454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9023" y="-244431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786060" y="-392510"/>
            <a:ext cx="6667753" cy="11072020"/>
            <a:chOff x="0" y="0"/>
            <a:chExt cx="1756116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6116" cy="2916088"/>
            </a:xfrm>
            <a:custGeom>
              <a:avLst/>
              <a:gdLst/>
              <a:ahLst/>
              <a:cxnLst/>
              <a:rect l="l" t="t" r="r" b="b"/>
              <a:pathLst>
                <a:path w="1756116" h="2916088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3708" y="483631"/>
            <a:ext cx="643045" cy="9407130"/>
            <a:chOff x="0" y="0"/>
            <a:chExt cx="857393" cy="1254284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1270586" y="9100782"/>
              <a:ext cx="3323932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Health Score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5400000">
              <a:off x="-821952" y="2503786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Workflow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-821952" y="5516708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NutriScan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857393" cy="12542840"/>
              <a:chOff x="0" y="0"/>
              <a:chExt cx="169362" cy="247759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9362" cy="247759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247759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2392917"/>
                    </a:lnTo>
                    <a:cubicBezTo>
                      <a:pt x="169362" y="2439685"/>
                      <a:pt x="131449" y="2477598"/>
                      <a:pt x="84681" y="2477598"/>
                    </a:cubicBezTo>
                    <a:lnTo>
                      <a:pt x="84681" y="2477598"/>
                    </a:lnTo>
                    <a:cubicBezTo>
                      <a:pt x="37913" y="2477598"/>
                      <a:pt x="0" y="2439685"/>
                      <a:pt x="0" y="239291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F2F7FA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69362" cy="2534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593196" y="2552701"/>
            <a:ext cx="10864880" cy="7338060"/>
          </a:xfrm>
          <a:custGeom>
            <a:avLst/>
            <a:gdLst/>
            <a:ahLst/>
            <a:cxnLst/>
            <a:rect l="l" t="t" r="r" b="b"/>
            <a:pathLst>
              <a:path w="10534094" h="7022729">
                <a:moveTo>
                  <a:pt x="0" y="0"/>
                </a:moveTo>
                <a:lnTo>
                  <a:pt x="10534093" y="0"/>
                </a:lnTo>
                <a:lnTo>
                  <a:pt x="10534093" y="7022730"/>
                </a:lnTo>
                <a:lnTo>
                  <a:pt x="0" y="70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951976" y="7212829"/>
            <a:ext cx="6026397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123950"/>
            <a:ext cx="6819437" cy="11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3"/>
              </a:lnSpc>
            </a:pPr>
            <a:r>
              <a:rPr lang="en-US" sz="8127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WORKFLOW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970" y="2062347"/>
            <a:ext cx="9093583" cy="34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6"/>
              </a:lnSpc>
              <a:spcBef>
                <a:spcPct val="0"/>
              </a:spcBef>
            </a:pPr>
            <a:r>
              <a:rPr lang="en-US" sz="1861" spc="9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System Methodology/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92510"/>
            <a:ext cx="5212196" cy="11072020"/>
            <a:chOff x="0" y="0"/>
            <a:chExt cx="1372759" cy="2916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759" cy="2916088"/>
            </a:xfrm>
            <a:custGeom>
              <a:avLst/>
              <a:gdLst/>
              <a:ahLst/>
              <a:cxnLst/>
              <a:rect l="l" t="t" r="r" b="b"/>
              <a:pathLst>
                <a:path w="1372759" h="2916088">
                  <a:moveTo>
                    <a:pt x="0" y="0"/>
                  </a:moveTo>
                  <a:lnTo>
                    <a:pt x="1372759" y="0"/>
                  </a:lnTo>
                  <a:lnTo>
                    <a:pt x="1372759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72759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269688">
            <a:off x="5419533" y="809048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 rot="-5400000">
            <a:off x="-587061" y="3865363"/>
            <a:ext cx="9664212" cy="250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0"/>
              </a:lnSpc>
            </a:pPr>
            <a:r>
              <a:rPr lang="en-US" sz="9536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ML METHEDOLOGY</a:t>
            </a:r>
          </a:p>
        </p:txBody>
      </p:sp>
      <p:sp>
        <p:nvSpPr>
          <p:cNvPr id="7" name="Freeform 7"/>
          <p:cNvSpPr/>
          <p:nvPr/>
        </p:nvSpPr>
        <p:spPr>
          <a:xfrm rot="4362236">
            <a:off x="13391562" y="-1431588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261399" y="-837437"/>
            <a:ext cx="6026397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09</a:t>
            </a:r>
          </a:p>
        </p:txBody>
      </p:sp>
      <p:grpSp>
        <p:nvGrpSpPr>
          <p:cNvPr id="9" name="Group 9"/>
          <p:cNvGrpSpPr/>
          <p:nvPr/>
        </p:nvGrpSpPr>
        <p:grpSpPr>
          <a:xfrm rot="5400000">
            <a:off x="10307317" y="-3710637"/>
            <a:ext cx="643045" cy="9407130"/>
            <a:chOff x="0" y="0"/>
            <a:chExt cx="169362" cy="24775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49087" y="783695"/>
            <a:ext cx="249294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Health Score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33310" y="783695"/>
            <a:ext cx="203343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Score Prediction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31328" y="783695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ML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25275" y="2410814"/>
            <a:ext cx="8403819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ML METHEDOLOGY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922213" y="3990059"/>
            <a:ext cx="333375" cy="333375"/>
            <a:chOff x="0" y="0"/>
            <a:chExt cx="87802" cy="878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22213" y="6625800"/>
            <a:ext cx="333375" cy="333375"/>
            <a:chOff x="0" y="0"/>
            <a:chExt cx="87802" cy="8780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70161" y="3990059"/>
            <a:ext cx="333375" cy="333375"/>
            <a:chOff x="0" y="0"/>
            <a:chExt cx="87802" cy="878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70161" y="6625800"/>
            <a:ext cx="333375" cy="333375"/>
            <a:chOff x="0" y="0"/>
            <a:chExt cx="87802" cy="878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7802" cy="87802"/>
            </a:xfrm>
            <a:custGeom>
              <a:avLst/>
              <a:gdLst/>
              <a:ahLst/>
              <a:cxnLst/>
              <a:rect l="l" t="t" r="r" b="b"/>
              <a:pathLst>
                <a:path w="87802" h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463071" y="4009109"/>
            <a:ext cx="4336513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HEALTH-FACTOR MAPPING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3071" y="6644850"/>
            <a:ext cx="3957855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 AGGREGATION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11020" y="4009109"/>
            <a:ext cx="5526161" cy="34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QUANTITY CONTRIBUTION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11020" y="6644850"/>
            <a:ext cx="4448280" cy="9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SCORE PREDICTION</a:t>
            </a:r>
          </a:p>
          <a:p>
            <a:pPr algn="l">
              <a:lnSpc>
                <a:spcPts val="2328"/>
              </a:lnSpc>
            </a:pPr>
            <a:endParaRPr lang="en-US" sz="2400" b="1">
              <a:solidFill>
                <a:srgbClr val="343434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l">
              <a:lnSpc>
                <a:spcPts val="2328"/>
              </a:lnSpc>
            </a:pPr>
            <a:endParaRPr lang="en-US" sz="2400" b="1">
              <a:solidFill>
                <a:srgbClr val="343434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922213" y="4465780"/>
            <a:ext cx="3859445" cy="1144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93"/>
              </a:lnSpc>
              <a:spcBef>
                <a:spcPct val="0"/>
              </a:spcBef>
            </a:pPr>
            <a:r>
              <a:rPr lang="en-US" sz="1638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Map each extracted nutritional/ingredient value to its corresponding health score from the ML dataset.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22213" y="7091996"/>
            <a:ext cx="4004437" cy="149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Combine the contributions of all nutritional and ingredient factors to form the input features for the ML model.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700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270161" y="4456255"/>
            <a:ext cx="4004437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Multiply the mapped health factor by the quantity present in the product to calculate its individual contribution.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70161" y="7091996"/>
            <a:ext cx="4004437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ML model analyzes the combined features and predicts the final Health Score (0–100).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9023" y="-244431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786060" y="-392510"/>
            <a:ext cx="6667753" cy="11072020"/>
            <a:chOff x="0" y="0"/>
            <a:chExt cx="1756116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6116" cy="2916088"/>
            </a:xfrm>
            <a:custGeom>
              <a:avLst/>
              <a:gdLst/>
              <a:ahLst/>
              <a:cxnLst/>
              <a:rect l="l" t="t" r="r" b="b"/>
              <a:pathLst>
                <a:path w="1756116" h="2916088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3708" y="483631"/>
            <a:ext cx="643045" cy="9407130"/>
            <a:chOff x="0" y="0"/>
            <a:chExt cx="857393" cy="1254284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1270586" y="9100782"/>
              <a:ext cx="3323932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Health Score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5400000">
              <a:off x="-821952" y="2503786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Workflow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-821952" y="5516708"/>
              <a:ext cx="2426665" cy="446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95">
                  <a:solidFill>
                    <a:srgbClr val="F2F7FA"/>
                  </a:solidFill>
                  <a:latin typeface="Telegraf Extra-Light"/>
                  <a:ea typeface="Telegraf Extra-Light"/>
                  <a:cs typeface="Telegraf Extra-Light"/>
                  <a:sym typeface="Telegraf Extra-Light"/>
                </a:rPr>
                <a:t>NutriScan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857393" cy="12542840"/>
              <a:chOff x="0" y="0"/>
              <a:chExt cx="169362" cy="247759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9362" cy="2477598"/>
              </a:xfrm>
              <a:custGeom>
                <a:avLst/>
                <a:gdLst/>
                <a:ahLst/>
                <a:cxnLst/>
                <a:rect l="l" t="t" r="r" b="b"/>
                <a:pathLst>
                  <a:path w="169362" h="2477598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2392917"/>
                    </a:lnTo>
                    <a:cubicBezTo>
                      <a:pt x="169362" y="2439685"/>
                      <a:pt x="131449" y="2477598"/>
                      <a:pt x="84681" y="2477598"/>
                    </a:cubicBezTo>
                    <a:lnTo>
                      <a:pt x="84681" y="2477598"/>
                    </a:lnTo>
                    <a:cubicBezTo>
                      <a:pt x="37913" y="2477598"/>
                      <a:pt x="0" y="2439685"/>
                      <a:pt x="0" y="239291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F2F7FA"/>
                </a:solidFill>
                <a:prstDash val="solid"/>
                <a:round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57150"/>
                <a:ext cx="169362" cy="2534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10951976" y="7212829"/>
            <a:ext cx="6026397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249892"/>
            <a:ext cx="9198853" cy="87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6212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WORK 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970" y="2062347"/>
            <a:ext cx="9093583" cy="662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6"/>
              </a:lnSpc>
              <a:spcBef>
                <a:spcPct val="0"/>
              </a:spcBef>
            </a:pPr>
            <a:r>
              <a:rPr lang="en-US" sz="1861" spc="9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Schedule</a:t>
            </a:r>
          </a:p>
          <a:p>
            <a:pPr algn="just">
              <a:lnSpc>
                <a:spcPts val="2606"/>
              </a:lnSpc>
              <a:spcBef>
                <a:spcPct val="0"/>
              </a:spcBef>
            </a:pPr>
            <a:endParaRPr lang="en-US" sz="1861" spc="93">
              <a:solidFill>
                <a:srgbClr val="343434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6D47D05-5F22-B70B-B90F-6FFE0665B14C}"/>
              </a:ext>
            </a:extLst>
          </p:cNvPr>
          <p:cNvSpPr/>
          <p:nvPr/>
        </p:nvSpPr>
        <p:spPr>
          <a:xfrm>
            <a:off x="271449" y="2728606"/>
            <a:ext cx="5257800" cy="3351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</a:rPr>
              <a:t>PHASE – 1</a:t>
            </a:r>
          </a:p>
          <a:p>
            <a:r>
              <a:rPr lang="en-IN" sz="2800" dirty="0">
                <a:solidFill>
                  <a:schemeClr val="tx1"/>
                </a:solidFill>
              </a:rPr>
              <a:t>Research &amp; Data Preparation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Literature review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Dataset collection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Data cleaning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Define nutritional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Finalise ML problem</a:t>
            </a:r>
          </a:p>
          <a:p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109145F-8360-EFDC-6673-BCA6C5CC2C61}"/>
              </a:ext>
            </a:extLst>
          </p:cNvPr>
          <p:cNvSpPr/>
          <p:nvPr/>
        </p:nvSpPr>
        <p:spPr>
          <a:xfrm>
            <a:off x="5656916" y="6272113"/>
            <a:ext cx="5552084" cy="3618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</a:rPr>
              <a:t>PHASE – 4</a:t>
            </a:r>
          </a:p>
          <a:p>
            <a:r>
              <a:rPr lang="en-IN" sz="2800" dirty="0">
                <a:solidFill>
                  <a:schemeClr val="tx1"/>
                </a:solidFill>
              </a:rPr>
              <a:t>Testing and finalisation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End-to-end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Error correction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Performance refinement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Documentation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610F6F9-FD43-67A0-B88E-2C29B936571F}"/>
              </a:ext>
            </a:extLst>
          </p:cNvPr>
          <p:cNvSpPr/>
          <p:nvPr/>
        </p:nvSpPr>
        <p:spPr>
          <a:xfrm>
            <a:off x="217167" y="6272113"/>
            <a:ext cx="5257800" cy="36186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</a:rPr>
              <a:t>PHASE – 3</a:t>
            </a:r>
          </a:p>
          <a:p>
            <a:r>
              <a:rPr lang="en-US" sz="2800" dirty="0">
                <a:solidFill>
                  <a:schemeClr val="tx1"/>
                </a:solidFill>
              </a:rPr>
              <a:t>Evaluation &amp; Integration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Model Evaluation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Accuracy, Precision, Recall &amp; F1-score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Confusion 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Health-score generation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FD0D063-6CD5-8712-B7A4-94D92B9BB53D}"/>
              </a:ext>
            </a:extLst>
          </p:cNvPr>
          <p:cNvSpPr/>
          <p:nvPr/>
        </p:nvSpPr>
        <p:spPr>
          <a:xfrm>
            <a:off x="5804058" y="2673256"/>
            <a:ext cx="5257800" cy="3351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tx1"/>
                </a:solidFill>
              </a:rPr>
              <a:t>PHASE – 2</a:t>
            </a:r>
          </a:p>
          <a:p>
            <a:r>
              <a:rPr lang="en-IN" sz="2800" dirty="0">
                <a:solidFill>
                  <a:schemeClr val="tx1"/>
                </a:solidFill>
              </a:rPr>
              <a:t>Model &amp; Input Development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Barcode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OCR implementation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Data preprocessing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Feature engineering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Random Forest training</a:t>
            </a:r>
          </a:p>
          <a:p>
            <a:endParaRPr lang="en-IN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567" flipH="1">
            <a:off x="10899557" y="-2048730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125778">
            <a:off x="9642048" y="7442125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8477" y="-348153"/>
            <a:ext cx="8500415" cy="5587359"/>
            <a:chOff x="0" y="0"/>
            <a:chExt cx="2238793" cy="1471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8793" cy="1471568"/>
            </a:xfrm>
            <a:custGeom>
              <a:avLst/>
              <a:gdLst/>
              <a:ahLst/>
              <a:cxnLst/>
              <a:rect l="l" t="t" r="r" b="b"/>
              <a:pathLst>
                <a:path w="2238793" h="1471568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38793" cy="1528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416136" y="2083271"/>
            <a:ext cx="7273548" cy="439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 dirty="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158121"/>
            <a:ext cx="7303238" cy="102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4"/>
              </a:lnSpc>
            </a:pPr>
            <a:r>
              <a:rPr lang="en-US" sz="7220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DELIVERABLES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057405"/>
            <a:ext cx="8917569" cy="7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9"/>
              </a:lnSpc>
              <a:spcBef>
                <a:spcPct val="0"/>
              </a:spcBef>
            </a:pPr>
            <a:r>
              <a:rPr lang="en-US" sz="3878" spc="9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EXPECTED OUTCOMES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25261" y="4303877"/>
            <a:ext cx="9793839" cy="345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5"/>
              </a:lnSpc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Working Barcode Scanner</a:t>
            </a:r>
          </a:p>
          <a:p>
            <a:pPr algn="l">
              <a:lnSpc>
                <a:spcPts val="4545"/>
              </a:lnSpc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Product Information System</a:t>
            </a:r>
          </a:p>
          <a:p>
            <a:pPr algn="l">
              <a:lnSpc>
                <a:spcPts val="4545"/>
              </a:lnSpc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ML Health Scoring Model</a:t>
            </a:r>
          </a:p>
          <a:p>
            <a:pPr algn="l">
              <a:lnSpc>
                <a:spcPts val="4545"/>
              </a:lnSpc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4. Personalized Evaluation</a:t>
            </a:r>
          </a:p>
          <a:p>
            <a:pPr algn="l">
              <a:lnSpc>
                <a:spcPts val="4545"/>
              </a:lnSpc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5. AI Product Assistant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 b="1" spc="162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6. Recommendation System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12996188" y="-3041057"/>
            <a:ext cx="643045" cy="8066054"/>
            <a:chOff x="0" y="0"/>
            <a:chExt cx="169362" cy="21243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362" cy="2124393"/>
            </a:xfrm>
            <a:custGeom>
              <a:avLst/>
              <a:gdLst/>
              <a:ahLst/>
              <a:cxnLst/>
              <a:rect l="l" t="t" r="r" b="b"/>
              <a:pathLst>
                <a:path w="169362" h="2124393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69362" cy="218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37958" y="782737"/>
            <a:ext cx="249294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Recommendation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22181" y="782737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Outcomes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16545" y="782737"/>
            <a:ext cx="1819999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NutriScan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28310" y="5143500"/>
            <a:ext cx="8431381" cy="6106672"/>
            <a:chOff x="0" y="0"/>
            <a:chExt cx="2220611" cy="1608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0611" cy="1608342"/>
            </a:xfrm>
            <a:custGeom>
              <a:avLst/>
              <a:gdLst/>
              <a:ahLst/>
              <a:cxnLst/>
              <a:rect l="l" t="t" r="r" b="b"/>
              <a:pathLst>
                <a:path w="2220611" h="1608342">
                  <a:moveTo>
                    <a:pt x="0" y="0"/>
                  </a:moveTo>
                  <a:lnTo>
                    <a:pt x="2220611" y="0"/>
                  </a:lnTo>
                  <a:lnTo>
                    <a:pt x="2220611" y="1608342"/>
                  </a:lnTo>
                  <a:lnTo>
                    <a:pt x="0" y="160834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20611" cy="1665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60705">
            <a:off x="1423346" y="-1948290"/>
            <a:ext cx="15441309" cy="6543255"/>
          </a:xfrm>
          <a:custGeom>
            <a:avLst/>
            <a:gdLst/>
            <a:ahLst/>
            <a:cxnLst/>
            <a:rect l="l" t="t" r="r" b="b"/>
            <a:pathLst>
              <a:path w="15441309" h="6543255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21043" y="3816797"/>
            <a:ext cx="9445915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577" y="5566396"/>
            <a:ext cx="7416846" cy="1431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WRAPPING UP AND PARTING THOUGHTS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959</Words>
  <Application>Microsoft Office PowerPoint</Application>
  <PresentationFormat>Custom</PresentationFormat>
  <Paragraphs>201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Telegraf</vt:lpstr>
      <vt:lpstr>Telegraf Extra-Light</vt:lpstr>
      <vt:lpstr>Telegraf Bold</vt:lpstr>
      <vt:lpstr>Calibri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NutriScanAI</dc:title>
  <cp:lastModifiedBy>Sudhanshu Suryawanshi</cp:lastModifiedBy>
  <cp:revision>5</cp:revision>
  <dcterms:created xsi:type="dcterms:W3CDTF">2006-08-16T00:00:00Z</dcterms:created>
  <dcterms:modified xsi:type="dcterms:W3CDTF">2026-08-25T11:03:11Z</dcterms:modified>
  <dc:identifier>DAHSwMAdF1c</dc:identifier>
</cp:coreProperties>
</file>